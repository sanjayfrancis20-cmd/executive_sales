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DATA ANALYST INTERNSHIP • TASK 4 CAPSTONE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Executive Sales &amp; Financial Performance Dashboard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Interactive Stakeholder Analytics, Trend Forecasting, Profit Margin Optimization, and Tableau BI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937760"/>
            <a:ext cx="996696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Author: Data Analyst Intern   |   Platform: Tableau Public / Power BI   |   Dataset: Kaggle Sales &amp; Financial Records (9,994 Rows)</a:t>
            </a:r>
            <a:br/>
            <a:r>
              <a:t>Deliverables: Interactive Dashboard, Business Summary Deck, Interview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PROJECT FOUNDATION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Business Problem &amp; Stakeholder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74720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Executive Problem Statement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Commercial stakeholders lacked unified visibility across regional sales, product margins, and discount leakages. Top-line revenue growth was masking severe margin erosion in specific sub-categories and territories.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63040"/>
            <a:ext cx="3474720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Core Dashboard Purpose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Deliver an intuitive, high-impact Tableau dashboard that enables C-suite executives, VP of Sales, and Regional Directors to evaluate KPIs, explore trends, drill into problem areas, and take strategic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74720" cy="46634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Key Stakeholder Requirements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High-level KPI Scorecards for rapid executive scanning</a:t>
            </a:r>
            <a:br/>
            <a:r>
              <a:t>• Interactive Slicers for granular multi-dimensional filtering</a:t>
            </a:r>
            <a:br/>
            <a:r>
              <a:t>• Monthly &amp; Annual Time-Series trend analysis</a:t>
            </a:r>
            <a:br/>
            <a:r>
              <a:t>• Color-coded profitability matrix to isolate loss-making units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HIGH-LEVEL PERFORMANCE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Executive KPI Scorecard &amp; Summary Cards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60604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TOTAL REVENUE</a:t>
            </a:r>
          </a:p>
          <a:p>
            <a:pPr>
              <a:defRPr sz="2400" b="1">
                <a:solidFill>
                  <a:srgbClr val="2563EB"/>
                </a:solidFill>
              </a:defRPr>
            </a:pPr>
            <a:r>
              <a:t>$13.05M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+3.2% vs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60604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50876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TOTAL NET PROFIT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$1.39M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10.69% Net 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60604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TOTAL ORDERS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4,998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30,282 Units Sold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606040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50876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AVG ORDER VALUE</a:t>
            </a:r>
          </a:p>
          <a:p>
            <a:pPr>
              <a:defRPr sz="2400" b="1">
                <a:solidFill>
                  <a:srgbClr val="64748B"/>
                </a:solidFill>
              </a:defRPr>
            </a:pPr>
            <a:r>
              <a:t>$2,611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Healthy B2B Basket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69848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Observations Across Multi-Year Operations (2021 - 2024)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Revenue Resilience: Annual sales have maintained steady volume around ~$3.2M - $3.4M per annum.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Margin Pressure in 2024: Net profit margin dipped from 11.34% in 2023 to 9.67% in 2024 due to aggressive discounting across select categories.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Volume vs Profit Realization: Average Order Value remains robust at $2,611 across 4,998 commercial orders, indicating strong transaction sizing.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Optimization Potential: Substantial bottom-line improvement can be captured by plugging negative-margin product categories without reducing sales 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TEMPORAL PATTERNS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Time-Series Trend &amp; Seasonality Analysis</a:t>
            </a:r>
          </a:p>
        </p:txBody>
      </p:sp>
      <p:pic>
        <p:nvPicPr>
          <p:cNvPr id="3" name="Picture 2" descr="chart_timeseri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371600"/>
            <a:ext cx="3657600" cy="4846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55448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Time-Series Insights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Q4 Seasonal Spike: Monthly revenue consistently peaks in November &amp; December driven by corporate budget spend and holiday inventory restocking.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Profit Alignment: Profit closely tracks top-line sales during Q1-Q3 but experiences margin compression in promotional periods due to discount escalation.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Cyclical Mid-Year Dips: February and July exhibit recurring dips across all four operating years, suggesting ideal windows for marketing campaigns and inventory planning.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Forecasting Implication: Strong seasonality enables 90-day rolling moving averages to project forward demand with high reliability.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REGIONAL INSIGHTS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Geographic Performance: Sales &amp; Margin Variance</a:t>
            </a:r>
          </a:p>
        </p:txBody>
      </p:sp>
      <p:pic>
        <p:nvPicPr>
          <p:cNvPr id="3" name="Picture 2" descr="chart_regiona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371600"/>
            <a:ext cx="3657600" cy="4846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55448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Regional Diagnostic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West Region Dominance: Generates the highest total sales volume ($4.1M+) and maintains the healthiest net profit margin (&gt;11.5%).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East Region Strength: Solid contributor with strong enterprise tech sales across New York and Massachusetts hubs.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Central Region Margin Leak: Despite generating over $3.0M in sales, Central suffers margin dilution due to aggressive price-matching and excessive discounting on furniture.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South Region Opportunity: Lowest volume contribution (~16%), but healthy margins suggest untapped headroom for sales rep expansion.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PORTFOLIO ANALYSIS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Product Sub-Category Profitability Matrix</a:t>
            </a:r>
          </a:p>
        </p:txBody>
      </p:sp>
      <p:pic>
        <p:nvPicPr>
          <p:cNvPr id="3" name="Picture 2" descr="chart_subcategory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371600"/>
            <a:ext cx="3657600" cy="4846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55448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Profit Engine vs Leaks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Profit Champions: Copiers, Phones, and Accessories represent over 55% of total company net profit with stellar margins (&gt;20%).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Office Supplies Stability: Paper, Binders, and Storage generate consistent positive cash flow with minimal price sensitivity.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Severe Drag from Tables: Tables generate negative total profit across regions due to deep discounting (30-50%) combined with high fulfillment freight costs.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• Strategic Fix: Implement minimum floor pricing and eliminate discounts over 15% on freight-heavy furniture units.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SEGMENT ANALYTICS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Customer Segment Share &amp; Discount Sensitivity</a:t>
            </a:r>
          </a:p>
        </p:txBody>
      </p:sp>
      <p:pic>
        <p:nvPicPr>
          <p:cNvPr id="3" name="Picture 2" descr="chart_seg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35040" y="1371600"/>
            <a:ext cx="5394960" cy="48463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Segment Profitability Dynamics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Consumer Segment (52.2% Sales): The largest revenue contributor. Higher transaction frequency but higher discount utilization.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Corporate Segment (30.1% Sales): The most stable, high-margin segment. Corporate contracts exhibit lower price elasticity and repeat purchasing behavior.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Home Office (17.7% Sales): The fastest growing post-pandemic segment. High demand for Technology and ergonomic Office Supplies with healthy margins.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t>• Key Takeaway: Prioritize Corporate enterprise multi-year contracts while curtailing consumer flash discounts.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TECHNICAL IMPLEMENTATION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Interactive Dashboard Architecture &amp; Design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1. Core KPI Metrics &amp; Cards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Total Sales ($13.05M)</a:t>
            </a:r>
            <a:br/>
            <a:r>
              <a:t>• Net Profit ($1.39M)</a:t>
            </a:r>
            <a:br/>
            <a:r>
              <a:t>• Profit Margin (10.69%)</a:t>
            </a:r>
            <a:br/>
            <a:r>
              <a:t>• YoY Growth % and Average Order Value</a:t>
            </a:r>
            <a:br/>
            <a:r>
              <a:t>• Real-time conditional KPI color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60020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2. Slicers &amp; Interactivity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Global Region Slicer (West, East, Central, South)</a:t>
            </a:r>
            <a:br/>
            <a:r>
              <a:t>• Category &amp; Sub-Category multi-select filter</a:t>
            </a:r>
            <a:br/>
            <a:r>
              <a:t>• Year &amp; Timeline drilldown (2021-2024)</a:t>
            </a:r>
            <a:br/>
            <a:r>
              <a:t>• Interactive cross-filtering via Worksheet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3. Advanced Tableau Logic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Fixed LOD Expressions for Region Benchmark:</a:t>
            </a:r>
            <a:br/>
            <a:r>
              <a:t>  { FIXED [Region] : SUM([Sales]) }</a:t>
            </a:r>
            <a:br/>
            <a:r>
              <a:t>• Dynamic Profit Status: IF [Profit] &gt; 0 THEN 'Profitable' ELSE 'Loss' END</a:t>
            </a:r>
            <a:br/>
            <a:r>
              <a:t>• Parameter Actions for Metric Switching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06908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4. Visual Hierarchy &amp; Theme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Cohesive Slate/Navy UI with 8px grid alignment</a:t>
            </a:r>
            <a:br/>
            <a:r>
              <a:t>• Semantic color palette (Emerald profit, Crimson loss)</a:t>
            </a:r>
            <a:br/>
            <a:r>
              <a:t>• Integrated top navigation tabs for instant view switching</a:t>
            </a:r>
            <a:br/>
            <a:r>
              <a:t>• High-readability typography and tooltips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STRATEGIC ROADMAP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Actionable 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1. Cap Maximum Discounts at 15%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Data indicates discount rates exceeding 20% invariably convert positive gross margins into negative net profits, especially in Tables and Bookcases. Instituting an automated approval gate will salvage an estimated $120K in annual profit.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2. Double Down on High-Margin Technology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Copiers and Phones generate &gt;25% profit margin with high average ticket sizes. Reallocate marketing budgets toward corporate technology promotions to elevate portfolio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3. Central Region Turnaround Strategy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Perform a deep logistics and pricing audit on the Central territory to rectify freight cost overheads and align regional discounting policies with the West territory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6984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1663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Expand Corporate Contract Retention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Corporate clients yield superior customer lifetime value (CLV) and lower discount sensitivity. Introduce tiered loyalty rebate structures rather than upfront transaction discounts.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INTERVIEW PREPARATION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Technical Viva &amp; Interview Questions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44752"/>
            <a:ext cx="4983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Q1: Key Elements of a Dashboard?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KPI Summary Cards (totals), Trend/Time-series visuals, Slicers/Filters for interactivity, Category/Distribution charts, consistent color hierarchy, and intuitive navigation.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444752"/>
            <a:ext cx="4983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Q2: What is a KPI?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A Key Performance Indicator is a quantifiable metric reflecting how effectively an organization is achieving its business goals (e.g., Sales, Net Margin, YoY Growth).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525780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79192"/>
            <a:ext cx="4983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Q3: Slicers in Power BI / Tableau?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Interactive visual filters placed directly on the canvas allowing end-users to slice data dynamically across dimensions (Region, Date, Category).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606040"/>
            <a:ext cx="525780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679192"/>
            <a:ext cx="4983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Q4: Difference between Power BI &amp; Tableau?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Tableau excels in deep statistical exploration and custom visual flexibility; Power BI offers seamless Microsoft 365 integration, tabular DAX modeling, and lower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5780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13632"/>
            <a:ext cx="4983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Q5: How to make a dashboard interactive?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Through Filter Slicers, Parameter Actions, Cross-Highlighting, URL navigation actions, Dynamic tooltips, and drill-through pages.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5780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13632"/>
            <a:ext cx="4983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Q6: Dealing with large datasets?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Use Tableau Data Extracts (.hyper), pre-aggregation, pushdown SQL queries, indexing, incremental refreshes, and hide unused columns.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5257800" cy="11155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48072"/>
            <a:ext cx="4983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</a:defRPr>
            </a:pPr>
            <a:r>
              <a:t>Q7: Best chart types for trend analysis?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Line charts (standard for time-series), Area charts (cumulative volume), Dual-axis lines (Sales vs Profit), and Sparklines (micro trends).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